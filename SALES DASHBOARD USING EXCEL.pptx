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115BF-0DED-4E7D-B812-910493D4541D}">
          <p14:sldIdLst>
            <p14:sldId id="256"/>
            <p14:sldId id="257"/>
            <p14:sldId id="258"/>
            <p14:sldId id="261"/>
            <p14:sldId id="259"/>
            <p14:sldId id="260"/>
            <p14:sldId id="262"/>
          </p14:sldIdLst>
        </p14:section>
        <p14:section name="CONCLUSION" id="{0424A40D-911C-4F1D-8F4B-84ABC2359115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FE811B5-DF3C-4E48-9030-341367B8166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398F7991-2F31-44F0-AD04-5AC3CF074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4155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11B5-DF3C-4E48-9030-341367B8166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F7991-2F31-44F0-AD04-5AC3CF074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75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11B5-DF3C-4E48-9030-341367B8166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F7991-2F31-44F0-AD04-5AC3CF074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63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11B5-DF3C-4E48-9030-341367B8166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F7991-2F31-44F0-AD04-5AC3CF074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925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11B5-DF3C-4E48-9030-341367B8166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F7991-2F31-44F0-AD04-5AC3CF074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126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11B5-DF3C-4E48-9030-341367B8166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F7991-2F31-44F0-AD04-5AC3CF074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401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11B5-DF3C-4E48-9030-341367B8166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F7991-2F31-44F0-AD04-5AC3CF074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23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11B5-DF3C-4E48-9030-341367B8166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F7991-2F31-44F0-AD04-5AC3CF074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03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11B5-DF3C-4E48-9030-341367B8166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F7991-2F31-44F0-AD04-5AC3CF074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81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11B5-DF3C-4E48-9030-341367B8166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F7991-2F31-44F0-AD04-5AC3CF074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362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11B5-DF3C-4E48-9030-341367B8166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F7991-2F31-44F0-AD04-5AC3CF074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920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11B5-DF3C-4E48-9030-341367B8166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F7991-2F31-44F0-AD04-5AC3CF074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656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11B5-DF3C-4E48-9030-341367B8166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F7991-2F31-44F0-AD04-5AC3CF074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6991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11B5-DF3C-4E48-9030-341367B8166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F7991-2F31-44F0-AD04-5AC3CF074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3718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11B5-DF3C-4E48-9030-341367B8166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F7991-2F31-44F0-AD04-5AC3CF074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762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11B5-DF3C-4E48-9030-341367B8166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F7991-2F31-44F0-AD04-5AC3CF074A1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4121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11B5-DF3C-4E48-9030-341367B8166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F7991-2F31-44F0-AD04-5AC3CF074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55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FE811B5-DF3C-4E48-9030-341367B8166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98F7991-2F31-44F0-AD04-5AC3CF074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083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CD730-A52C-2A20-4153-48E74E3BDD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SALES DASHBOARD USING EXCEL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DE35C2-2116-B865-4688-9B94AEF7DC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SUNNY KUMAR</a:t>
            </a:r>
          </a:p>
        </p:txBody>
      </p:sp>
    </p:spTree>
    <p:extLst>
      <p:ext uri="{BB962C8B-B14F-4D97-AF65-F5344CB8AC3E}">
        <p14:creationId xmlns:p14="http://schemas.microsoft.com/office/powerpoint/2010/main" val="1971706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47C0-ED5F-E77C-2386-6386ACF32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of project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DB0271-A78C-3947-CE42-10F47FCF0D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776210"/>
            <a:ext cx="989899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	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collect and analyze multi-region sales data to understand variations in buying behavior.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research the effectiveness of current sales and marketing strategies in global markets.</a:t>
            </a:r>
          </a:p>
        </p:txBody>
      </p:sp>
    </p:spTree>
    <p:extLst>
      <p:ext uri="{BB962C8B-B14F-4D97-AF65-F5344CB8AC3E}">
        <p14:creationId xmlns:p14="http://schemas.microsoft.com/office/powerpoint/2010/main" val="574269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10B65-2E8C-7AF3-1696-F1881B2F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432903"/>
            <a:ext cx="10131425" cy="1456267"/>
          </a:xfrm>
        </p:spPr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A69AE-CBD7-5CA6-F8FB-F79B20623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87827"/>
            <a:ext cx="10131425" cy="3607169"/>
          </a:xfrm>
        </p:spPr>
        <p:txBody>
          <a:bodyPr/>
          <a:lstStyle/>
          <a:p>
            <a:r>
              <a:rPr lang="en-US" b="1" dirty="0"/>
              <a:t>SHEET 1 INPUT DATA </a:t>
            </a:r>
          </a:p>
          <a:p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SHEET 2 TARGET OF THE STORE </a:t>
            </a:r>
          </a:p>
          <a:p>
            <a:r>
              <a:rPr lang="en-US" b="1" dirty="0">
                <a:solidFill>
                  <a:prstClr val="white"/>
                </a:solidFill>
                <a:latin typeface="Calibri" panose="020F0502020204030204"/>
              </a:rPr>
              <a:t>SHEET 3 CUSTOMER DETAILS</a:t>
            </a:r>
          </a:p>
          <a:p>
            <a:r>
              <a:rPr lang="en-US" b="1" dirty="0">
                <a:solidFill>
                  <a:prstClr val="white"/>
                </a:solidFill>
                <a:latin typeface="Calibri" panose="020F0502020204030204"/>
              </a:rPr>
              <a:t>SHEET 4 PIVOT TABLES</a:t>
            </a:r>
          </a:p>
          <a:p>
            <a:r>
              <a:rPr lang="en-US" b="1" dirty="0">
                <a:solidFill>
                  <a:prstClr val="white"/>
                </a:solidFill>
                <a:latin typeface="Calibri" panose="020F0502020204030204"/>
              </a:rPr>
              <a:t>DASHBOARD</a:t>
            </a:r>
          </a:p>
          <a:p>
            <a:pPr marL="0" indent="0">
              <a:buNone/>
            </a:pPr>
            <a:endParaRPr lang="en-US" b="1" dirty="0">
              <a:solidFill>
                <a:prstClr val="white"/>
              </a:solidFill>
              <a:latin typeface="Calibri" panose="020F0502020204030204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440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C7AF8-4F1C-8752-A780-0D5FD6B9E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 USED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2A945-361E-5127-34D7-96A18B49D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USED PRODUCT FUNCTION TO FIND THE TOTAL AMOUNT GENERATED AFTER SELLING </a:t>
            </a:r>
          </a:p>
          <a:p>
            <a:r>
              <a:rPr lang="en-US" b="1" dirty="0"/>
              <a:t>VLOOKUP FUNCTION USED TO COUNTRY NAME OF CUSTOMER FROM CUSTOMER SHEET</a:t>
            </a:r>
          </a:p>
          <a:p>
            <a:r>
              <a:rPr lang="en-US" b="1" dirty="0"/>
              <a:t>USED  =TEXT([@DATE],"mmm") TO FIND MONTH NAME</a:t>
            </a:r>
          </a:p>
          <a:p>
            <a:r>
              <a:rPr lang="en-US" b="1" dirty="0"/>
              <a:t>USED  =WEEKNUM([@DATE])  TO FIND THE WEEK NUMBER IN THE YEAR </a:t>
            </a:r>
          </a:p>
          <a:p>
            <a:r>
              <a:rPr lang="en-US" b="1" dirty="0"/>
              <a:t>USED VLOOKUP FUNCTION TO CALCULATE MONTHLY SALES AND COMPARED WITH TARGET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64270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2FF2F-6342-581B-F9DC-71E5DF968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SELLING PRODUCT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B89685-A03E-8703-B795-4C1144BBAC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9046039"/>
              </p:ext>
            </p:extLst>
          </p:nvPr>
        </p:nvGraphicFramePr>
        <p:xfrm>
          <a:off x="775252" y="1749287"/>
          <a:ext cx="5808110" cy="3685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8877">
                  <a:extLst>
                    <a:ext uri="{9D8B030D-6E8A-4147-A177-3AD203B41FA5}">
                      <a16:colId xmlns:a16="http://schemas.microsoft.com/office/drawing/2014/main" val="936907831"/>
                    </a:ext>
                  </a:extLst>
                </a:gridCol>
                <a:gridCol w="3059233">
                  <a:extLst>
                    <a:ext uri="{9D8B030D-6E8A-4147-A177-3AD203B41FA5}">
                      <a16:colId xmlns:a16="http://schemas.microsoft.com/office/drawing/2014/main" val="3417166108"/>
                    </a:ext>
                  </a:extLst>
                </a:gridCol>
              </a:tblGrid>
              <a:tr h="3685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Product30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57,969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64464409"/>
                  </a:ext>
                </a:extLst>
              </a:tr>
              <a:tr h="3685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Product41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57,554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88026803"/>
                  </a:ext>
                </a:extLst>
              </a:tr>
              <a:tr h="3685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Product24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49,599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01711843"/>
                  </a:ext>
                </a:extLst>
              </a:tr>
              <a:tr h="3685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Product19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indent="0" algn="r" fontAlgn="b">
                        <a:buFont typeface="Arial" panose="020B0604020202020204" pitchFamily="34" charset="0"/>
                        <a:buNone/>
                      </a:pPr>
                      <a:r>
                        <a:rPr lang="en-US" sz="20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41,580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272910"/>
                  </a:ext>
                </a:extLst>
              </a:tr>
              <a:tr h="3685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Product22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41,055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59270876"/>
                  </a:ext>
                </a:extLst>
              </a:tr>
              <a:tr h="3685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Product32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40,883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23414897"/>
                  </a:ext>
                </a:extLst>
              </a:tr>
              <a:tr h="3685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Product21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39,660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79903959"/>
                  </a:ext>
                </a:extLst>
              </a:tr>
              <a:tr h="3685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Product05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38,591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10168443"/>
                  </a:ext>
                </a:extLst>
              </a:tr>
              <a:tr h="3685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Product42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38,232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29592377"/>
                  </a:ext>
                </a:extLst>
              </a:tr>
              <a:tr h="3685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Product10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34,992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89571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2576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75B44-379E-06D0-1EEF-239BAB5DD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3 CUSTOMERS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18DB017-2749-8F70-11BD-2FED4E4275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6814824"/>
              </p:ext>
            </p:extLst>
          </p:nvPr>
        </p:nvGraphicFramePr>
        <p:xfrm>
          <a:off x="487017" y="1749287"/>
          <a:ext cx="3836505" cy="24914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9335">
                  <a:extLst>
                    <a:ext uri="{9D8B030D-6E8A-4147-A177-3AD203B41FA5}">
                      <a16:colId xmlns:a16="http://schemas.microsoft.com/office/drawing/2014/main" val="2882567509"/>
                    </a:ext>
                  </a:extLst>
                </a:gridCol>
                <a:gridCol w="1557170">
                  <a:extLst>
                    <a:ext uri="{9D8B030D-6E8A-4147-A177-3AD203B41FA5}">
                      <a16:colId xmlns:a16="http://schemas.microsoft.com/office/drawing/2014/main" val="3297888760"/>
                    </a:ext>
                  </a:extLst>
                </a:gridCol>
              </a:tblGrid>
              <a:tr h="8304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u="none" strike="noStrike" dirty="0">
                          <a:effectLst/>
                          <a:highlight>
                            <a:srgbClr val="00FF00"/>
                          </a:highlight>
                        </a:rPr>
                        <a:t>Customer33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1" u="none" strike="noStrike" dirty="0">
                          <a:effectLst/>
                          <a:highlight>
                            <a:srgbClr val="00FF00"/>
                          </a:highlight>
                        </a:rPr>
                        <a:t>60,929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65208369"/>
                  </a:ext>
                </a:extLst>
              </a:tr>
              <a:tr h="8304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u="none" strike="noStrike" dirty="0">
                          <a:effectLst/>
                          <a:highlight>
                            <a:srgbClr val="00FF00"/>
                          </a:highlight>
                        </a:rPr>
                        <a:t>Customer22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1" u="none" strike="noStrike" dirty="0">
                          <a:effectLst/>
                          <a:highlight>
                            <a:srgbClr val="00FF00"/>
                          </a:highlight>
                        </a:rPr>
                        <a:t>45,113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68139815"/>
                  </a:ext>
                </a:extLst>
              </a:tr>
              <a:tr h="8304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u="none" strike="noStrike" dirty="0">
                          <a:effectLst/>
                          <a:highlight>
                            <a:srgbClr val="00FF00"/>
                          </a:highlight>
                        </a:rPr>
                        <a:t>Customer23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1" u="none" strike="noStrike" dirty="0">
                          <a:effectLst/>
                          <a:highlight>
                            <a:srgbClr val="00FF00"/>
                          </a:highlight>
                        </a:rPr>
                        <a:t>43,063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27928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9651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09B875-A464-D463-9A46-9B8001D73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224"/>
            <a:ext cx="12192000" cy="62437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116AA0-C129-1474-C7C7-9821289EE11E}"/>
              </a:ext>
            </a:extLst>
          </p:cNvPr>
          <p:cNvSpPr txBox="1"/>
          <p:nvPr/>
        </p:nvSpPr>
        <p:spPr>
          <a:xfrm>
            <a:off x="0" y="29449"/>
            <a:ext cx="43300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DASHBOARD OVERVIEW</a:t>
            </a:r>
          </a:p>
        </p:txBody>
      </p:sp>
    </p:spTree>
    <p:extLst>
      <p:ext uri="{BB962C8B-B14F-4D97-AF65-F5344CB8AC3E}">
        <p14:creationId xmlns:p14="http://schemas.microsoft.com/office/powerpoint/2010/main" val="1659712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9D05E0-0FE5-067A-47AD-15183D9E7612}"/>
              </a:ext>
            </a:extLst>
          </p:cNvPr>
          <p:cNvSpPr txBox="1"/>
          <p:nvPr/>
        </p:nvSpPr>
        <p:spPr>
          <a:xfrm>
            <a:off x="646043" y="874643"/>
            <a:ext cx="21657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E33204-4585-E291-BE8E-06DAFECECF4B}"/>
              </a:ext>
            </a:extLst>
          </p:cNvPr>
          <p:cNvSpPr txBox="1"/>
          <p:nvPr/>
        </p:nvSpPr>
        <p:spPr>
          <a:xfrm>
            <a:off x="745435" y="2067339"/>
            <a:ext cx="1039688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The sales dashboard successfully summarizes essential sales metrics,</a:t>
            </a:r>
          </a:p>
          <a:p>
            <a:r>
              <a:rPr lang="en-US" sz="2800" b="1" dirty="0"/>
              <a:t> enabling quick decision-making and improving business insights.</a:t>
            </a:r>
          </a:p>
        </p:txBody>
      </p:sp>
    </p:spTree>
    <p:extLst>
      <p:ext uri="{BB962C8B-B14F-4D97-AF65-F5344CB8AC3E}">
        <p14:creationId xmlns:p14="http://schemas.microsoft.com/office/powerpoint/2010/main" val="8067059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74</TotalTime>
  <Words>173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Celestial</vt:lpstr>
      <vt:lpstr>SALES DASHBOARD USING EXCEL</vt:lpstr>
      <vt:lpstr>Objective of project</vt:lpstr>
      <vt:lpstr>CONTENTS</vt:lpstr>
      <vt:lpstr>FORMULA USED </vt:lpstr>
      <vt:lpstr>TOP SELLING PRODUCT</vt:lpstr>
      <vt:lpstr>TOP 3 CUSTOMERS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sunny sahu</dc:creator>
  <cp:lastModifiedBy>sunny sahu</cp:lastModifiedBy>
  <cp:revision>2</cp:revision>
  <dcterms:created xsi:type="dcterms:W3CDTF">2025-11-15T01:26:31Z</dcterms:created>
  <dcterms:modified xsi:type="dcterms:W3CDTF">2025-12-08T11:04:55Z</dcterms:modified>
</cp:coreProperties>
</file>